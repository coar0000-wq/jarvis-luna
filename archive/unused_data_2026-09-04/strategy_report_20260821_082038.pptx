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440680"/>
            <a:ext cx="12191695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713232"/>
            <a:ext cx="27432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1">
                <a:solidFill>
                  <a:srgbClr val="DBEAFE"/>
                </a:solidFill>
                <a:latin typeface="Malgun Gothic"/>
              </a:rPr>
              <a:t>JARVIS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417320"/>
            <a:ext cx="996696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algun Gothic"/>
              </a:rPr>
              <a:t>5일 주기 전략분석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395728"/>
            <a:ext cx="896112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900" b="0">
                <a:solidFill>
                  <a:srgbClr val="DBEAFE"/>
                </a:solidFill>
                <a:latin typeface="Malgun Gothic"/>
              </a:rPr>
              <a:t>데이터 기반 성장 전략 및 실행 우선순위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5879592"/>
            <a:ext cx="77724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algun Gothic"/>
              </a:rPr>
              <a:t>보고서 생성일  2026-08-21  |  08:20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987552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F2342"/>
                </a:solidFill>
                <a:latin typeface="Malgun Gothic"/>
              </a:rPr>
              <a:t>핵심 지표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502920"/>
            <a:ext cx="155448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4B5563"/>
                </a:solidFill>
                <a:latin typeface="Malgun Gothic"/>
              </a:rPr>
              <a:t>JARVIS 전략 보고서  | 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4892040" cy="16916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" y="1618488"/>
            <a:ext cx="420624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4B5563"/>
                </a:solidFill>
                <a:latin typeface="Malgun Gothic"/>
              </a:rPr>
              <a:t>총 상품 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" y="2075688"/>
            <a:ext cx="4206240" cy="5303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0F2342"/>
                </a:solidFill>
                <a:latin typeface="Malgun Gothic"/>
              </a:rPr>
              <a:t>256개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1325880"/>
            <a:ext cx="4892040" cy="16916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57416" y="1618488"/>
            <a:ext cx="420624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4B5563"/>
                </a:solidFill>
                <a:latin typeface="Malgun Gothic"/>
              </a:rPr>
              <a:t>평균 마진율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57416" y="2075688"/>
            <a:ext cx="4206240" cy="5303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0F2342"/>
                </a:solidFill>
                <a:latin typeface="Malgun Gothic"/>
              </a:rPr>
              <a:t>650%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611880"/>
            <a:ext cx="4892040" cy="16916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33856" y="3904488"/>
            <a:ext cx="420624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4B5563"/>
                </a:solidFill>
                <a:latin typeface="Malgun Gothic"/>
              </a:rPr>
              <a:t>월 수익 예상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" y="4361688"/>
            <a:ext cx="4206240" cy="5303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0F2342"/>
                </a:solidFill>
                <a:latin typeface="Malgun Gothic"/>
              </a:rPr>
              <a:t>$3,900–7,200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3611880"/>
            <a:ext cx="4892040" cy="16916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57416" y="3904488"/>
            <a:ext cx="420624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4B5563"/>
                </a:solidFill>
                <a:latin typeface="Malgun Gothic"/>
              </a:rPr>
              <a:t>성장률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57416" y="4361688"/>
            <a:ext cx="4206240" cy="5303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0F2342"/>
                </a:solidFill>
                <a:latin typeface="Malgun Gothic"/>
              </a:rPr>
              <a:t>이전 5일 대비 +15%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989320"/>
            <a:ext cx="104241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Malgun Gothic"/>
              </a:rPr>
              <a:t>지표는 저장소 내 수집 데이터와 현재 분석 기준을 바탕으로 산출되었습니다.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987552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F2342"/>
                </a:solidFill>
                <a:latin typeface="Malgun Gothic"/>
              </a:rPr>
              <a:t>전략 1. 고마진 카테고리 집중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502920"/>
            <a:ext cx="155448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4B5563"/>
                </a:solidFill>
                <a:latin typeface="Malgun Gothic"/>
              </a:rPr>
              <a:t>JARVIS 전략 보고서  | 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10561320" cy="19202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664208"/>
            <a:ext cx="1828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Malgun Gothic"/>
              </a:rPr>
              <a:t>실행 제안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057400"/>
            <a:ext cx="9784080" cy="8412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100" b="0">
                <a:solidFill>
                  <a:srgbClr val="1F2937"/>
                </a:solidFill>
                <a:latin typeface="Malgun Gothic"/>
              </a:rPr>
              <a:t>평균 마진율이 높은 핵심 카테고리를 우선 운영하고 TOP 5 품목의 재고·광고 효율을 집중 관리합니다.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730752"/>
            <a:ext cx="10561320" cy="1170432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4005072"/>
            <a:ext cx="146304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59669"/>
                </a:solidFill>
                <a:latin typeface="Malgun Gothic"/>
              </a:rPr>
              <a:t>기대 효과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3950208"/>
            <a:ext cx="804672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Malgun Gothic"/>
              </a:rPr>
              <a:t>월 수익 $5,000–7,000 증대 기대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779008"/>
            <a:ext cx="1024128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Malgun Gothic"/>
              </a:rPr>
              <a:t>다음 5일 동안 담당자·예산·측정 지표를 지정해 우선순위에 따라 실행하십시오.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987552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F2342"/>
                </a:solidFill>
                <a:latin typeface="Malgun Gothic"/>
              </a:rPr>
              <a:t>전략 2. 글로벌 시장 확대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502920"/>
            <a:ext cx="155448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4B5563"/>
                </a:solidFill>
                <a:latin typeface="Malgun Gothic"/>
              </a:rPr>
              <a:t>JARVIS 전략 보고서  | 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10561320" cy="19202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664208"/>
            <a:ext cx="1828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Malgun Gothic"/>
              </a:rPr>
              <a:t>실행 제안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057400"/>
            <a:ext cx="9784080" cy="8412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100" b="0">
                <a:solidFill>
                  <a:srgbClr val="1F2937"/>
                </a:solidFill>
                <a:latin typeface="Malgun Gothic"/>
              </a:rPr>
              <a:t>미국·유럽 시장을 대상으로 상품 상세 페이지와 캠페인 메시지를 현지화해 신규 수요를 확보합니다.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730752"/>
            <a:ext cx="10561320" cy="1170432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4005072"/>
            <a:ext cx="146304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59669"/>
                </a:solidFill>
                <a:latin typeface="Malgun Gothic"/>
              </a:rPr>
              <a:t>기대 효과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3950208"/>
            <a:ext cx="804672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Malgun Gothic"/>
              </a:rPr>
              <a:t>시장 도달 범위 확대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779008"/>
            <a:ext cx="1024128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Malgun Gothic"/>
              </a:rPr>
              <a:t>다음 5일 동안 담당자·예산·측정 지표를 지정해 우선순위에 따라 실행하십시오.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987552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F2342"/>
                </a:solidFill>
                <a:latin typeface="Malgun Gothic"/>
              </a:rPr>
              <a:t>전략 3. SNS 마케팅 강화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502920"/>
            <a:ext cx="155448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4B5563"/>
                </a:solidFill>
                <a:latin typeface="Malgun Gothic"/>
              </a:rPr>
              <a:t>JARVIS 전략 보고서  | 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10561320" cy="19202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664208"/>
            <a:ext cx="1828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Malgun Gothic"/>
              </a:rPr>
              <a:t>실행 제안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057400"/>
            <a:ext cx="9784080" cy="8412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100" b="0">
                <a:solidFill>
                  <a:srgbClr val="1F2937"/>
                </a:solidFill>
                <a:latin typeface="Malgun Gothic"/>
              </a:rPr>
              <a:t>TikTok 및 Instagram Reels 중심의 짧은 콘텐츠를 정기 발행하고 성과가 높은 소재를 반복 활용합니다.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730752"/>
            <a:ext cx="10561320" cy="1170432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4005072"/>
            <a:ext cx="146304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59669"/>
                </a:solidFill>
                <a:latin typeface="Malgun Gothic"/>
              </a:rPr>
              <a:t>기대 효과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3950208"/>
            <a:ext cx="804672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Malgun Gothic"/>
              </a:rPr>
              <a:t>전환율 개선 기대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779008"/>
            <a:ext cx="1024128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Malgun Gothic"/>
              </a:rPr>
              <a:t>다음 5일 동안 담당자·예산·측정 지표를 지정해 우선순위에 따라 실행하십시오.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987552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F2342"/>
                </a:solidFill>
                <a:latin typeface="Malgun Gothic"/>
              </a:rPr>
              <a:t>전략 4. 주문·배송 자동화 확대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502920"/>
            <a:ext cx="155448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4B5563"/>
                </a:solidFill>
                <a:latin typeface="Malgun Gothic"/>
              </a:rPr>
              <a:t>JARVIS 전략 보고서  | 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10561320" cy="19202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664208"/>
            <a:ext cx="1828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Malgun Gothic"/>
              </a:rPr>
              <a:t>실행 제안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057400"/>
            <a:ext cx="9784080" cy="8412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100" b="0">
                <a:solidFill>
                  <a:srgbClr val="1F2937"/>
                </a:solidFill>
                <a:latin typeface="Malgun Gothic"/>
              </a:rPr>
              <a:t>주문 접수부터 배송 상태 안내까지 반복 작업을 자동화해 운영 시간을 절감합니다.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730752"/>
            <a:ext cx="10561320" cy="1170432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4005072"/>
            <a:ext cx="146304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59669"/>
                </a:solidFill>
                <a:latin typeface="Malgun Gothic"/>
              </a:rPr>
              <a:t>기대 효과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3950208"/>
            <a:ext cx="804672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Malgun Gothic"/>
              </a:rPr>
              <a:t>운영 비용 절감 및 처리 속도 향상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779008"/>
            <a:ext cx="1024128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Malgun Gothic"/>
              </a:rPr>
              <a:t>다음 5일 동안 담당자·예산·측정 지표를 지정해 우선순위에 따라 실행하십시오.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987552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F2342"/>
                </a:solidFill>
                <a:latin typeface="Malgun Gothic"/>
              </a:rPr>
              <a:t>전략 5. 가격 최적화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502920"/>
            <a:ext cx="155448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4B5563"/>
                </a:solidFill>
                <a:latin typeface="Malgun Gothic"/>
              </a:rPr>
              <a:t>JARVIS 전략 보고서  | 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10561320" cy="19202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664208"/>
            <a:ext cx="1828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Malgun Gothic"/>
              </a:rPr>
              <a:t>실행 제안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057400"/>
            <a:ext cx="9784080" cy="8412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100" b="0">
                <a:solidFill>
                  <a:srgbClr val="1F2937"/>
                </a:solidFill>
                <a:latin typeface="Malgun Gothic"/>
              </a:rPr>
              <a:t>수요·공급·경쟁 가격을 주기적으로 검토해 목표 마진을 유지하는 가격 정책을 적용합니다.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730752"/>
            <a:ext cx="10561320" cy="1170432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4005072"/>
            <a:ext cx="146304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59669"/>
                </a:solidFill>
                <a:latin typeface="Malgun Gothic"/>
              </a:rPr>
              <a:t>기대 효과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3950208"/>
            <a:ext cx="804672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Malgun Gothic"/>
              </a:rPr>
              <a:t>수익성 개선 기대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779008"/>
            <a:ext cx="1024128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Malgun Gothic"/>
              </a:rPr>
              <a:t>다음 5일 동안 담당자·예산·측정 지표를 지정해 우선순위에 따라 실행하십시오.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